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2EB2D-92FA-4BE1-B165-50E72B2A1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BB3AA1-4CB8-41C9-A9D7-774AC2F08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D58E2B-F027-45E3-B15A-BF7887579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FDDA14-C846-4D70-9892-66176ECE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9A51F7-535A-4848-9627-0D689E11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82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963368-BD4F-466C-92D1-C1980B8F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63F714-DF4C-4935-9515-1717B77AE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A4ACEC-5EA7-4AAF-8588-59A0B0EC2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F38C19-5BA5-423D-B001-75B356D3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0C94F2-B595-4974-BB03-170FE0564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171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64690-F14F-4087-87A4-C312835F6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D89F8B-22EE-4A48-A537-9C016934A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86076-469F-4289-BCB8-AEA52B3F1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2F82F7-ACAF-4DBD-A8A9-682E5EAC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E16C7-C23C-477E-AE9C-BA2924F6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64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9D39-534A-467F-9E82-30426840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06333E-BD41-4BB4-BCFD-6DFCA6E4B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DA4601-5B5C-4EE2-8EE4-4E102D3FB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A085AE-C912-4CF1-90C1-D6CD1063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80EFFE-5F53-41D9-B009-F0DBC5F12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2E1809-ABC7-4CCE-AAD8-E58825D9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260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02389-8F60-4EC5-B121-278EA6AFA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2A2855-97F5-4233-A700-169F1CD84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0C694D-4F07-4F93-9E9E-3B2151B40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4C6C25-FA48-4DA9-A265-901ACCBC5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FF79D0-7E80-4ECC-98C2-3295AF942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D2602F7-B36D-42DC-A567-E6F6D4CAB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AF58C9D-FA50-4BDC-81B3-91E6225F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DF6DA3-54C7-4D2C-942E-7431FAD3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55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DB7F3-209D-4F12-827A-C5BD8D3DF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68C5AC-0FCD-42D1-87D7-BFE30D178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A00B8-F9BA-4A98-8355-BED487A34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9FEEA5-D3CD-4575-A5D1-FC750E702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52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7CC793D-6324-49D7-9D70-18F375F6E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32429F-60BC-447A-8114-EE4C8AB2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F2A9B-9B44-4DBB-A140-66AF31EC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24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71D61-E400-4FFE-82A2-5F754C7F5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D0C8E7-CF9E-475F-9943-55097925A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DBBF2-C113-4386-AF14-19BC4C557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1B7568-EF91-46BC-A8FF-2F97DDBD3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447C14-548D-4256-888F-47C48BB2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E23B42-710F-4C04-86E4-B6D643D5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237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79C2A-AA47-458B-9E86-1C8BB789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574326-801E-4704-9408-ECD953923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410BFF-2184-43A5-B0EE-9222C547A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C09A41-BD8E-4745-8316-7DDDFDFF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01C18F-E1B1-401B-922B-5AF35BFA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555D8C-8A66-47F9-822A-8C4A51CB4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08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C1747-283F-43E9-BAC8-D7D947636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C4A3A3-8D36-4B72-A3D8-D9589A877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92FBF6-8D0F-4BC9-AFDC-3AA35F524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04AC21-DA0C-49A8-95DB-CFB9CAD0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4504CB-87F9-491B-A26B-FFAF716C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646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7B8477-37F3-4C2E-8796-60D779816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FF0B21-AF98-4404-BFB5-AA160E27E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671F93-789B-44B4-A5A4-EFC53619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D3F7BF-6FE3-4EF4-9C0C-FEA30D689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1E347A-7E0F-41C7-BEFB-6AED43FB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13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EA30D09-84EF-41DE-9FF1-FD84791D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57CDEE-E506-425D-A4F9-A378B6DF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479E9-F0D7-4316-8942-A1C3D606F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FBFFB-81F4-4B4A-B4CA-DBEE3EBB1C7A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9F570-440E-45A8-9A7B-475D05965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CA5923-934E-4863-959D-83F965063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937FF-FF51-4E1F-88B4-1F7F56A9B8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997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39CA8E-1D13-4839-A26D-FD75661F4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6809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sz="8000" dirty="0"/>
              <a:t>혈압추정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CDBB4EF-FA24-45D6-B957-2F0DD0BD6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3008"/>
            <a:ext cx="9144000" cy="1655762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85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66809-7A59-45C0-AA0F-A3BDD251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 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5FC39-F3F5-4EE2-972D-C4FE47696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ABP </a:t>
            </a:r>
            <a:r>
              <a:rPr lang="ko-KR" altLang="en-US" dirty="0"/>
              <a:t>데이터 누락으로 인해 초기 데이터 폐기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vitalDB</a:t>
            </a:r>
            <a:r>
              <a:rPr lang="ko-KR" altLang="en-US" dirty="0"/>
              <a:t>를 통해 </a:t>
            </a:r>
            <a:r>
              <a:rPr lang="en-US" altLang="ko-KR" dirty="0"/>
              <a:t>PPG,ECG,ABP </a:t>
            </a:r>
            <a:r>
              <a:rPr lang="ko-KR" altLang="en-US" dirty="0"/>
              <a:t>데이터 </a:t>
            </a:r>
            <a:r>
              <a:rPr lang="en-US" altLang="ko-KR" dirty="0"/>
              <a:t>2,269</a:t>
            </a:r>
            <a:r>
              <a:rPr lang="ko-KR" altLang="en-US" dirty="0"/>
              <a:t>개 확보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Annotation(csv) </a:t>
            </a:r>
            <a:r>
              <a:rPr lang="ko-KR" altLang="en-US" dirty="0"/>
              <a:t>파일에 근거해 유효 세그먼트 추출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(PPG=1 &amp; ECG=1)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509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630A7-0F5D-409D-9E4A-60D650AD6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PEAK </a:t>
            </a:r>
            <a:r>
              <a:rPr lang="ko-KR" altLang="en-US" dirty="0"/>
              <a:t>추출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B916622F-FC96-47DD-9AFD-49E0F1F83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204" y="1690688"/>
            <a:ext cx="5249008" cy="42392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D97F6F-1C7E-4BC0-BB1B-4FE4270D2600}"/>
              </a:ext>
            </a:extLst>
          </p:cNvPr>
          <p:cNvSpPr txBox="1"/>
          <p:nvPr/>
        </p:nvSpPr>
        <p:spPr>
          <a:xfrm>
            <a:off x="5854212" y="2020763"/>
            <a:ext cx="6169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-&gt; </a:t>
            </a:r>
            <a:r>
              <a:rPr lang="en-US" altLang="ko-KR" sz="3600" dirty="0" err="1"/>
              <a:t>heartpy</a:t>
            </a:r>
            <a:r>
              <a:rPr lang="en-US" altLang="ko-KR" sz="3600" dirty="0"/>
              <a:t> </a:t>
            </a:r>
            <a:r>
              <a:rPr lang="ko-KR" altLang="en-US" sz="3600" dirty="0"/>
              <a:t>라이브러리의 </a:t>
            </a:r>
            <a:endParaRPr lang="en-US" altLang="ko-KR" sz="3600" dirty="0"/>
          </a:p>
          <a:p>
            <a:r>
              <a:rPr lang="en-US" altLang="ko-KR" sz="3600" dirty="0"/>
              <a:t>Pan-Tompkins </a:t>
            </a:r>
            <a:r>
              <a:rPr lang="ko-KR" altLang="en-US" sz="3600" dirty="0"/>
              <a:t>알고리즘 사용  </a:t>
            </a:r>
            <a:r>
              <a:rPr lang="ko-KR" altLang="en-US" sz="3200" dirty="0"/>
              <a:t>                                                                        </a:t>
            </a:r>
            <a:r>
              <a:rPr lang="en-US" altLang="ko-KR" sz="3200" dirty="0"/>
              <a:t>                                                                             </a:t>
            </a:r>
          </a:p>
          <a:p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436640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52179-948B-4F53-8C2C-82177E1F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Peak</a:t>
            </a:r>
            <a:r>
              <a:rPr lang="ko-KR" altLang="en-US" dirty="0"/>
              <a:t>간 대응 쌍 구성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FA6DA8A-924E-4785-85F6-F06AC7850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091" y="2081706"/>
            <a:ext cx="2981741" cy="4296375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1E75BB2-80F7-4344-B797-4B691C395F55}"/>
              </a:ext>
            </a:extLst>
          </p:cNvPr>
          <p:cNvCxnSpPr/>
          <p:nvPr/>
        </p:nvCxnSpPr>
        <p:spPr>
          <a:xfrm>
            <a:off x="1881554" y="2242038"/>
            <a:ext cx="3429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79AACB8-C351-47DA-BA11-009F6554D251}"/>
              </a:ext>
            </a:extLst>
          </p:cNvPr>
          <p:cNvCxnSpPr/>
          <p:nvPr/>
        </p:nvCxnSpPr>
        <p:spPr>
          <a:xfrm>
            <a:off x="2532185" y="4528038"/>
            <a:ext cx="3077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3FF46DD-6765-4343-9737-E68855B9409A}"/>
              </a:ext>
            </a:extLst>
          </p:cNvPr>
          <p:cNvCxnSpPr/>
          <p:nvPr/>
        </p:nvCxnSpPr>
        <p:spPr>
          <a:xfrm>
            <a:off x="2338754" y="2242038"/>
            <a:ext cx="3472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692ABAE-4BC4-4E4F-9427-B09352C0BF74}"/>
              </a:ext>
            </a:extLst>
          </p:cNvPr>
          <p:cNvCxnSpPr/>
          <p:nvPr/>
        </p:nvCxnSpPr>
        <p:spPr>
          <a:xfrm>
            <a:off x="2998177" y="4528038"/>
            <a:ext cx="281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CDAF9DC-A055-4D6A-ADD0-FF5759AE25B6}"/>
              </a:ext>
            </a:extLst>
          </p:cNvPr>
          <p:cNvSpPr txBox="1"/>
          <p:nvPr/>
        </p:nvSpPr>
        <p:spPr>
          <a:xfrm>
            <a:off x="1907932" y="2217704"/>
            <a:ext cx="17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3DD45C-B410-4A87-8CDF-20C55B42A2A3}"/>
              </a:ext>
            </a:extLst>
          </p:cNvPr>
          <p:cNvSpPr txBox="1"/>
          <p:nvPr/>
        </p:nvSpPr>
        <p:spPr>
          <a:xfrm>
            <a:off x="2545374" y="4505693"/>
            <a:ext cx="17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57749C-23B6-4F20-8DBC-703B453B6EA4}"/>
              </a:ext>
            </a:extLst>
          </p:cNvPr>
          <p:cNvSpPr txBox="1"/>
          <p:nvPr/>
        </p:nvSpPr>
        <p:spPr>
          <a:xfrm>
            <a:off x="2356339" y="2195963"/>
            <a:ext cx="17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C0DB40-BAF0-48B9-A6E1-2DB4C22C3832}"/>
              </a:ext>
            </a:extLst>
          </p:cNvPr>
          <p:cNvSpPr txBox="1"/>
          <p:nvPr/>
        </p:nvSpPr>
        <p:spPr>
          <a:xfrm>
            <a:off x="2988939" y="4505693"/>
            <a:ext cx="175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곱하기 기호 19">
            <a:extLst>
              <a:ext uri="{FF2B5EF4-FFF2-40B4-BE49-F238E27FC236}">
                <a16:creationId xmlns:a16="http://schemas.microsoft.com/office/drawing/2014/main" id="{C2B13039-0ED1-44CC-8ACD-1A5AF1F82BE2}"/>
              </a:ext>
            </a:extLst>
          </p:cNvPr>
          <p:cNvSpPr/>
          <p:nvPr/>
        </p:nvSpPr>
        <p:spPr>
          <a:xfrm>
            <a:off x="1696915" y="2059682"/>
            <a:ext cx="237393" cy="27256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곱하기 기호 20">
            <a:extLst>
              <a:ext uri="{FF2B5EF4-FFF2-40B4-BE49-F238E27FC236}">
                <a16:creationId xmlns:a16="http://schemas.microsoft.com/office/drawing/2014/main" id="{9EDF9AD5-8E9E-4AE7-845F-D884E25CC736}"/>
              </a:ext>
            </a:extLst>
          </p:cNvPr>
          <p:cNvSpPr/>
          <p:nvPr/>
        </p:nvSpPr>
        <p:spPr>
          <a:xfrm>
            <a:off x="2338754" y="4292706"/>
            <a:ext cx="237393" cy="272562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더하기 기호 21">
            <a:extLst>
              <a:ext uri="{FF2B5EF4-FFF2-40B4-BE49-F238E27FC236}">
                <a16:creationId xmlns:a16="http://schemas.microsoft.com/office/drawing/2014/main" id="{D42AB05D-1D39-44F9-84FE-1ECC6BDDF0DB}"/>
              </a:ext>
            </a:extLst>
          </p:cNvPr>
          <p:cNvSpPr/>
          <p:nvPr/>
        </p:nvSpPr>
        <p:spPr>
          <a:xfrm>
            <a:off x="2132138" y="1984948"/>
            <a:ext cx="303334" cy="272562"/>
          </a:xfrm>
          <a:prstGeom prst="mathPlu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더하기 기호 22">
            <a:extLst>
              <a:ext uri="{FF2B5EF4-FFF2-40B4-BE49-F238E27FC236}">
                <a16:creationId xmlns:a16="http://schemas.microsoft.com/office/drawing/2014/main" id="{F6142676-A029-485F-8A5B-88055B86D70F}"/>
              </a:ext>
            </a:extLst>
          </p:cNvPr>
          <p:cNvSpPr/>
          <p:nvPr/>
        </p:nvSpPr>
        <p:spPr>
          <a:xfrm>
            <a:off x="2728260" y="4292706"/>
            <a:ext cx="338056" cy="272562"/>
          </a:xfrm>
          <a:prstGeom prst="mathPlus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441BD-F024-419D-8E1F-5B1004414132}"/>
              </a:ext>
            </a:extLst>
          </p:cNvPr>
          <p:cNvSpPr txBox="1"/>
          <p:nvPr/>
        </p:nvSpPr>
        <p:spPr>
          <a:xfrm>
            <a:off x="4889673" y="2059682"/>
            <a:ext cx="720854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-&gt; ECG</a:t>
            </a:r>
            <a:r>
              <a:rPr lang="ko-KR" altLang="en-US" sz="3200" dirty="0"/>
              <a:t>의 </a:t>
            </a:r>
            <a:r>
              <a:rPr lang="en-US" altLang="ko-KR" sz="3200" dirty="0"/>
              <a:t>R-R </a:t>
            </a:r>
            <a:r>
              <a:rPr lang="ko-KR" altLang="en-US" sz="3200" dirty="0"/>
              <a:t>간격을 기준으로 </a:t>
            </a:r>
            <a:endParaRPr lang="en-US" altLang="ko-KR" sz="3200" dirty="0"/>
          </a:p>
          <a:p>
            <a:r>
              <a:rPr lang="ko-KR" altLang="en-US" sz="3200" dirty="0"/>
              <a:t>각 구간 내 존재 하는 </a:t>
            </a:r>
            <a:r>
              <a:rPr lang="en-US" altLang="ko-KR" sz="3200" dirty="0"/>
              <a:t>PPG peak </a:t>
            </a:r>
            <a:r>
              <a:rPr lang="ko-KR" altLang="en-US" sz="3200" dirty="0"/>
              <a:t>매핑</a:t>
            </a:r>
            <a:endParaRPr lang="en-US" altLang="ko-KR" sz="3200" dirty="0"/>
          </a:p>
          <a:p>
            <a:endParaRPr lang="en-US" altLang="ko-KR" sz="3200" dirty="0"/>
          </a:p>
          <a:p>
            <a:r>
              <a:rPr lang="en-US" altLang="ko-KR" sz="2800" b="1" dirty="0">
                <a:solidFill>
                  <a:srgbClr val="FF0000"/>
                </a:solidFill>
              </a:rPr>
              <a:t>(ECG</a:t>
            </a:r>
            <a:r>
              <a:rPr lang="ko-KR" altLang="en-US" sz="2800" b="1" dirty="0">
                <a:solidFill>
                  <a:srgbClr val="FF0000"/>
                </a:solidFill>
              </a:rPr>
              <a:t>와 </a:t>
            </a:r>
            <a:r>
              <a:rPr lang="en-US" altLang="ko-KR" sz="2800" b="1" dirty="0">
                <a:solidFill>
                  <a:srgbClr val="FF0000"/>
                </a:solidFill>
              </a:rPr>
              <a:t>PPG </a:t>
            </a:r>
            <a:r>
              <a:rPr lang="ko-KR" altLang="en-US" sz="2800" b="1" dirty="0">
                <a:solidFill>
                  <a:srgbClr val="FF0000"/>
                </a:solidFill>
              </a:rPr>
              <a:t>간의 </a:t>
            </a:r>
            <a:r>
              <a:rPr lang="en-US" altLang="ko-KR" sz="2800" b="1" dirty="0">
                <a:solidFill>
                  <a:srgbClr val="FF0000"/>
                </a:solidFill>
              </a:rPr>
              <a:t>beat-level </a:t>
            </a:r>
            <a:r>
              <a:rPr lang="ko-KR" altLang="en-US" sz="2800" b="1" dirty="0">
                <a:solidFill>
                  <a:srgbClr val="FF0000"/>
                </a:solidFill>
              </a:rPr>
              <a:t>대응관계 구성</a:t>
            </a:r>
            <a:r>
              <a:rPr lang="en-US" altLang="ko-KR" sz="2800" b="1" dirty="0">
                <a:solidFill>
                  <a:srgbClr val="FF0000"/>
                </a:solidFill>
              </a:rPr>
              <a:t>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6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815C2-84B3-4AC5-86CC-D07AB2EC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907"/>
            <a:ext cx="10515600" cy="1325563"/>
          </a:xfrm>
        </p:spPr>
        <p:txBody>
          <a:bodyPr/>
          <a:lstStyle/>
          <a:p>
            <a:r>
              <a:rPr lang="en-US" altLang="ko-KR" dirty="0"/>
              <a:t>4. PPG-ECG </a:t>
            </a:r>
            <a:r>
              <a:rPr lang="ko-KR" altLang="en-US" dirty="0"/>
              <a:t>간 </a:t>
            </a:r>
            <a:r>
              <a:rPr lang="en-US" altLang="ko-KR" dirty="0"/>
              <a:t>correlation </a:t>
            </a:r>
            <a:r>
              <a:rPr lang="ko-KR" altLang="en-US" dirty="0"/>
              <a:t>계산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8701D70-E487-47CA-A9B0-EC8E52CA0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762" y="1951952"/>
            <a:ext cx="8964276" cy="176237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860D7B-9FB7-4E27-BEE9-8CDCE2B8C71A}"/>
              </a:ext>
            </a:extLst>
          </p:cNvPr>
          <p:cNvSpPr/>
          <p:nvPr/>
        </p:nvSpPr>
        <p:spPr>
          <a:xfrm>
            <a:off x="299886" y="1719096"/>
            <a:ext cx="1315915" cy="507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고정 </a:t>
            </a:r>
            <a:r>
              <a:rPr lang="en-US" altLang="ko-KR" b="1" dirty="0"/>
              <a:t>ECG (0~6000)</a:t>
            </a:r>
            <a:endParaRPr lang="ko-KR" altLang="en-US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241DD27-29A4-4620-AEFC-45F5C3FA787A}"/>
              </a:ext>
            </a:extLst>
          </p:cNvPr>
          <p:cNvCxnSpPr/>
          <p:nvPr/>
        </p:nvCxnSpPr>
        <p:spPr>
          <a:xfrm>
            <a:off x="1535250" y="4106008"/>
            <a:ext cx="81153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A6ABBA6-7A79-491C-B861-044D57B9DAA1}"/>
              </a:ext>
            </a:extLst>
          </p:cNvPr>
          <p:cNvCxnSpPr/>
          <p:nvPr/>
        </p:nvCxnSpPr>
        <p:spPr>
          <a:xfrm>
            <a:off x="2479431" y="4502491"/>
            <a:ext cx="81416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화살표: 줄무늬가 있는 오른쪽 18">
            <a:extLst>
              <a:ext uri="{FF2B5EF4-FFF2-40B4-BE49-F238E27FC236}">
                <a16:creationId xmlns:a16="http://schemas.microsoft.com/office/drawing/2014/main" id="{A0CDDFF7-AE09-4D87-9010-906C037E5083}"/>
              </a:ext>
            </a:extLst>
          </p:cNvPr>
          <p:cNvSpPr/>
          <p:nvPr/>
        </p:nvSpPr>
        <p:spPr>
          <a:xfrm rot="5400000">
            <a:off x="5337923" y="4691957"/>
            <a:ext cx="509954" cy="40444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7A2C1EA-2A25-4CA9-A7A4-FF00F39EC1A7}"/>
              </a:ext>
            </a:extLst>
          </p:cNvPr>
          <p:cNvCxnSpPr/>
          <p:nvPr/>
        </p:nvCxnSpPr>
        <p:spPr>
          <a:xfrm>
            <a:off x="3877407" y="5284179"/>
            <a:ext cx="79570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469405-8F7A-437E-A78A-191AE5C57684}"/>
              </a:ext>
            </a:extLst>
          </p:cNvPr>
          <p:cNvSpPr txBox="1"/>
          <p:nvPr/>
        </p:nvSpPr>
        <p:spPr>
          <a:xfrm>
            <a:off x="447889" y="3921342"/>
            <a:ext cx="1019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0~6000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F212E-5679-460D-9237-307F2F84B2DB}"/>
              </a:ext>
            </a:extLst>
          </p:cNvPr>
          <p:cNvSpPr txBox="1"/>
          <p:nvPr/>
        </p:nvSpPr>
        <p:spPr>
          <a:xfrm>
            <a:off x="1467796" y="4313027"/>
            <a:ext cx="1019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1~6001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EA1FEF-F36C-42AB-AA9D-0C1ABE2E4488}"/>
              </a:ext>
            </a:extLst>
          </p:cNvPr>
          <p:cNvSpPr txBox="1"/>
          <p:nvPr/>
        </p:nvSpPr>
        <p:spPr>
          <a:xfrm>
            <a:off x="2614244" y="5105994"/>
            <a:ext cx="1263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200~6200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3311DCA-6208-4115-8AC5-4A484D0870DB}"/>
              </a:ext>
            </a:extLst>
          </p:cNvPr>
          <p:cNvSpPr/>
          <p:nvPr/>
        </p:nvSpPr>
        <p:spPr>
          <a:xfrm>
            <a:off x="331651" y="5731424"/>
            <a:ext cx="1315915" cy="507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 </a:t>
            </a:r>
            <a:r>
              <a:rPr lang="en-US" altLang="ko-KR" b="1" dirty="0"/>
              <a:t>PPG </a:t>
            </a:r>
          </a:p>
          <a:p>
            <a:pPr algn="ctr"/>
            <a:r>
              <a:rPr lang="ko-KR" altLang="en-US" b="1" dirty="0"/>
              <a:t>후보 구간</a:t>
            </a:r>
            <a:r>
              <a:rPr lang="en-US" altLang="ko-KR" b="1" dirty="0"/>
              <a:t> </a:t>
            </a:r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8329ED-73E5-4468-9A9F-C6DFA2B78496}"/>
              </a:ext>
            </a:extLst>
          </p:cNvPr>
          <p:cNvSpPr txBox="1"/>
          <p:nvPr/>
        </p:nvSpPr>
        <p:spPr>
          <a:xfrm>
            <a:off x="1841987" y="5731424"/>
            <a:ext cx="60139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최대 </a:t>
            </a:r>
            <a:r>
              <a:rPr lang="en-US" altLang="ko-KR" sz="2400" dirty="0"/>
              <a:t>correlation </a:t>
            </a:r>
            <a:r>
              <a:rPr lang="ko-KR" altLang="en-US" sz="2400" dirty="0"/>
              <a:t>값 </a:t>
            </a:r>
            <a:r>
              <a:rPr lang="en-US" altLang="ko-KR" sz="2400" dirty="0"/>
              <a:t>&gt; 0.96</a:t>
            </a:r>
          </a:p>
          <a:p>
            <a:r>
              <a:rPr lang="en-US" altLang="ko-KR" sz="2400" dirty="0"/>
              <a:t>-&gt; list</a:t>
            </a:r>
            <a:r>
              <a:rPr lang="ko-KR" altLang="en-US" sz="2400" dirty="0"/>
              <a:t>에 </a:t>
            </a:r>
            <a:r>
              <a:rPr lang="en-US" altLang="ko-KR" sz="2400" dirty="0"/>
              <a:t>stack </a:t>
            </a:r>
            <a:r>
              <a:rPr lang="ko-KR" altLang="en-US" sz="2400" dirty="0"/>
              <a:t> 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D5D078A-4774-45BB-BBA9-D3228A373B1E}"/>
              </a:ext>
            </a:extLst>
          </p:cNvPr>
          <p:cNvCxnSpPr/>
          <p:nvPr/>
        </p:nvCxnSpPr>
        <p:spPr>
          <a:xfrm>
            <a:off x="7855926" y="3714323"/>
            <a:ext cx="0" cy="391685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EA4F7DC-9873-4D89-BB40-531D19E82452}"/>
              </a:ext>
            </a:extLst>
          </p:cNvPr>
          <p:cNvCxnSpPr/>
          <p:nvPr/>
        </p:nvCxnSpPr>
        <p:spPr>
          <a:xfrm>
            <a:off x="7991688" y="3714323"/>
            <a:ext cx="0" cy="783370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6CE82A-9F29-49AA-8EF4-C0E44CA206D8}"/>
              </a:ext>
            </a:extLst>
          </p:cNvPr>
          <p:cNvCxnSpPr/>
          <p:nvPr/>
        </p:nvCxnSpPr>
        <p:spPr>
          <a:xfrm>
            <a:off x="8124092" y="3714323"/>
            <a:ext cx="0" cy="1569856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4B257B-B534-4388-A9F1-952628D25441}"/>
              </a:ext>
            </a:extLst>
          </p:cNvPr>
          <p:cNvSpPr txBox="1"/>
          <p:nvPr/>
        </p:nvSpPr>
        <p:spPr>
          <a:xfrm>
            <a:off x="8203223" y="4740686"/>
            <a:ext cx="163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C000"/>
                </a:solidFill>
              </a:rPr>
              <a:t>Corr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ko-KR" altLang="en-US" dirty="0">
                <a:solidFill>
                  <a:srgbClr val="FFC000"/>
                </a:solidFill>
              </a:rPr>
              <a:t>계산</a:t>
            </a:r>
          </a:p>
        </p:txBody>
      </p:sp>
    </p:spTree>
    <p:extLst>
      <p:ext uri="{BB962C8B-B14F-4D97-AF65-F5344CB8AC3E}">
        <p14:creationId xmlns:p14="http://schemas.microsoft.com/office/powerpoint/2010/main" val="247735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9815C2-84B3-4AC5-86CC-D07AB2ECD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907"/>
            <a:ext cx="10515600" cy="1325563"/>
          </a:xfrm>
        </p:spPr>
        <p:txBody>
          <a:bodyPr/>
          <a:lstStyle/>
          <a:p>
            <a:r>
              <a:rPr lang="en-US" altLang="ko-KR" dirty="0"/>
              <a:t>4. PPG-ECG </a:t>
            </a:r>
            <a:r>
              <a:rPr lang="ko-KR" altLang="en-US" dirty="0"/>
              <a:t>간 </a:t>
            </a:r>
            <a:r>
              <a:rPr lang="en-US" altLang="ko-KR" dirty="0"/>
              <a:t>correlation </a:t>
            </a:r>
            <a:r>
              <a:rPr lang="ko-KR" altLang="en-US" dirty="0"/>
              <a:t>계산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48701D70-E487-47CA-A9B0-EC8E52CA0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762" y="1951952"/>
            <a:ext cx="8964276" cy="176237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860D7B-9FB7-4E27-BEE9-8CDCE2B8C71A}"/>
              </a:ext>
            </a:extLst>
          </p:cNvPr>
          <p:cNvSpPr/>
          <p:nvPr/>
        </p:nvSpPr>
        <p:spPr>
          <a:xfrm>
            <a:off x="87923" y="1715558"/>
            <a:ext cx="1559643" cy="5076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고정 </a:t>
            </a:r>
            <a:r>
              <a:rPr lang="en-US" altLang="ko-KR" b="1" dirty="0"/>
              <a:t>ECG (1000~7000)</a:t>
            </a:r>
            <a:endParaRPr lang="ko-KR" altLang="en-US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241DD27-29A4-4620-AEFC-45F5C3FA787A}"/>
              </a:ext>
            </a:extLst>
          </p:cNvPr>
          <p:cNvCxnSpPr/>
          <p:nvPr/>
        </p:nvCxnSpPr>
        <p:spPr>
          <a:xfrm>
            <a:off x="1535250" y="4106008"/>
            <a:ext cx="81153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CA6ABBA6-7A79-491C-B861-044D57B9DAA1}"/>
              </a:ext>
            </a:extLst>
          </p:cNvPr>
          <p:cNvCxnSpPr/>
          <p:nvPr/>
        </p:nvCxnSpPr>
        <p:spPr>
          <a:xfrm>
            <a:off x="2479431" y="4502491"/>
            <a:ext cx="81416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화살표: 줄무늬가 있는 오른쪽 18">
            <a:extLst>
              <a:ext uri="{FF2B5EF4-FFF2-40B4-BE49-F238E27FC236}">
                <a16:creationId xmlns:a16="http://schemas.microsoft.com/office/drawing/2014/main" id="{A0CDDFF7-AE09-4D87-9010-906C037E5083}"/>
              </a:ext>
            </a:extLst>
          </p:cNvPr>
          <p:cNvSpPr/>
          <p:nvPr/>
        </p:nvSpPr>
        <p:spPr>
          <a:xfrm rot="5400000">
            <a:off x="5337923" y="4691957"/>
            <a:ext cx="509954" cy="40444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7A2C1EA-2A25-4CA9-A7A4-FF00F39EC1A7}"/>
              </a:ext>
            </a:extLst>
          </p:cNvPr>
          <p:cNvCxnSpPr/>
          <p:nvPr/>
        </p:nvCxnSpPr>
        <p:spPr>
          <a:xfrm>
            <a:off x="3877407" y="5284179"/>
            <a:ext cx="79570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469405-8F7A-437E-A78A-191AE5C57684}"/>
              </a:ext>
            </a:extLst>
          </p:cNvPr>
          <p:cNvSpPr txBox="1"/>
          <p:nvPr/>
        </p:nvSpPr>
        <p:spPr>
          <a:xfrm>
            <a:off x="87923" y="3921342"/>
            <a:ext cx="1379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1000~7000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7F212E-5679-460D-9237-307F2F84B2DB}"/>
              </a:ext>
            </a:extLst>
          </p:cNvPr>
          <p:cNvSpPr txBox="1"/>
          <p:nvPr/>
        </p:nvSpPr>
        <p:spPr>
          <a:xfrm>
            <a:off x="1107830" y="4313027"/>
            <a:ext cx="1379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1001~7001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EA1FEF-F36C-42AB-AA9D-0C1ABE2E4488}"/>
              </a:ext>
            </a:extLst>
          </p:cNvPr>
          <p:cNvSpPr txBox="1"/>
          <p:nvPr/>
        </p:nvSpPr>
        <p:spPr>
          <a:xfrm>
            <a:off x="2497540" y="5105994"/>
            <a:ext cx="1379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1200~7200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D5D078A-4774-45BB-BBA9-D3228A373B1E}"/>
              </a:ext>
            </a:extLst>
          </p:cNvPr>
          <p:cNvCxnSpPr/>
          <p:nvPr/>
        </p:nvCxnSpPr>
        <p:spPr>
          <a:xfrm>
            <a:off x="7855926" y="3714323"/>
            <a:ext cx="0" cy="391685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EA4F7DC-9873-4D89-BB40-531D19E82452}"/>
              </a:ext>
            </a:extLst>
          </p:cNvPr>
          <p:cNvCxnSpPr/>
          <p:nvPr/>
        </p:nvCxnSpPr>
        <p:spPr>
          <a:xfrm>
            <a:off x="7991688" y="3714323"/>
            <a:ext cx="0" cy="783370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6CE82A-9F29-49AA-8EF4-C0E44CA206D8}"/>
              </a:ext>
            </a:extLst>
          </p:cNvPr>
          <p:cNvCxnSpPr/>
          <p:nvPr/>
        </p:nvCxnSpPr>
        <p:spPr>
          <a:xfrm>
            <a:off x="8124092" y="3714323"/>
            <a:ext cx="0" cy="1569856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64B257B-B534-4388-A9F1-952628D25441}"/>
              </a:ext>
            </a:extLst>
          </p:cNvPr>
          <p:cNvSpPr txBox="1"/>
          <p:nvPr/>
        </p:nvSpPr>
        <p:spPr>
          <a:xfrm>
            <a:off x="8203223" y="4740686"/>
            <a:ext cx="1635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solidFill>
                  <a:srgbClr val="FFC000"/>
                </a:solidFill>
              </a:rPr>
              <a:t>Corr</a:t>
            </a:r>
            <a:r>
              <a:rPr lang="en-US" altLang="ko-KR" dirty="0">
                <a:solidFill>
                  <a:srgbClr val="FFC000"/>
                </a:solidFill>
              </a:rPr>
              <a:t> </a:t>
            </a:r>
            <a:r>
              <a:rPr lang="ko-KR" altLang="en-US" dirty="0">
                <a:solidFill>
                  <a:srgbClr val="FFC000"/>
                </a:solidFill>
              </a:rPr>
              <a:t>계산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2010A-B4C9-467A-ADAD-AE1A6253FAEF}"/>
              </a:ext>
            </a:extLst>
          </p:cNvPr>
          <p:cNvSpPr txBox="1"/>
          <p:nvPr/>
        </p:nvSpPr>
        <p:spPr>
          <a:xfrm>
            <a:off x="539253" y="5882883"/>
            <a:ext cx="8806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※ ABP</a:t>
            </a:r>
            <a:r>
              <a:rPr lang="en-US" altLang="ko-KR" sz="3200" dirty="0"/>
              <a:t>: List</a:t>
            </a:r>
            <a:r>
              <a:rPr lang="ko-KR" altLang="en-US" sz="3200" dirty="0"/>
              <a:t>에 추가된 </a:t>
            </a:r>
            <a:r>
              <a:rPr lang="en-US" altLang="ko-KR" sz="3200" dirty="0"/>
              <a:t>PPG</a:t>
            </a:r>
            <a:r>
              <a:rPr lang="ko-KR" altLang="en-US" sz="3200" dirty="0"/>
              <a:t>와 동일 구간 </a:t>
            </a:r>
            <a:r>
              <a:rPr lang="en-US" altLang="ko-KR" sz="3200" dirty="0"/>
              <a:t>stack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48655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68BD92-6A39-4F7C-9FDA-7180A06F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데이터 통합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8354397-5EEC-4F1A-AF54-3CA5428CA49D}"/>
              </a:ext>
            </a:extLst>
          </p:cNvPr>
          <p:cNvSpPr/>
          <p:nvPr/>
        </p:nvSpPr>
        <p:spPr>
          <a:xfrm>
            <a:off x="1397974" y="2073885"/>
            <a:ext cx="1222131" cy="6242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ECG</a:t>
            </a:r>
            <a:endParaRPr lang="ko-KR" altLang="en-US" b="1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F1D041-D34A-46F1-A3BC-46E03A99C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973" y="3402072"/>
            <a:ext cx="1222131" cy="6242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ko-KR" sz="1800" b="1" dirty="0"/>
              <a:t>PPG</a:t>
            </a:r>
            <a:endParaRPr lang="ko-KR" altLang="en-US" sz="1800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631239D-5DAE-4DD6-B03E-1B33D60FAD1B}"/>
              </a:ext>
            </a:extLst>
          </p:cNvPr>
          <p:cNvSpPr/>
          <p:nvPr/>
        </p:nvSpPr>
        <p:spPr>
          <a:xfrm>
            <a:off x="1397973" y="4734658"/>
            <a:ext cx="1222131" cy="6242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ABP</a:t>
            </a:r>
            <a:endParaRPr lang="ko-KR" altLang="en-US" b="1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05D2556-090D-4E0C-B2D0-FDB0E923741B}"/>
              </a:ext>
            </a:extLst>
          </p:cNvPr>
          <p:cNvCxnSpPr>
            <a:cxnSpLocks/>
          </p:cNvCxnSpPr>
          <p:nvPr/>
        </p:nvCxnSpPr>
        <p:spPr>
          <a:xfrm>
            <a:off x="2725615" y="2386012"/>
            <a:ext cx="1565031" cy="1148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19D7699-9647-4524-93E2-E89FF6570899}"/>
              </a:ext>
            </a:extLst>
          </p:cNvPr>
          <p:cNvCxnSpPr>
            <a:cxnSpLocks/>
          </p:cNvCxnSpPr>
          <p:nvPr/>
        </p:nvCxnSpPr>
        <p:spPr>
          <a:xfrm>
            <a:off x="2795954" y="3703208"/>
            <a:ext cx="1565031" cy="109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B6106A4-12B6-4650-8957-BA65FD569B1D}"/>
              </a:ext>
            </a:extLst>
          </p:cNvPr>
          <p:cNvCxnSpPr>
            <a:cxnSpLocks/>
          </p:cNvCxnSpPr>
          <p:nvPr/>
        </p:nvCxnSpPr>
        <p:spPr>
          <a:xfrm flipV="1">
            <a:off x="2725615" y="3882899"/>
            <a:ext cx="1565031" cy="1163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600C111-720C-49E2-AD8D-D7FCBE85CFD0}"/>
              </a:ext>
            </a:extLst>
          </p:cNvPr>
          <p:cNvSpPr/>
          <p:nvPr/>
        </p:nvSpPr>
        <p:spPr>
          <a:xfrm>
            <a:off x="4703889" y="3360032"/>
            <a:ext cx="1802423" cy="686351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Case1.npy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4A8A0E-A198-4292-8070-E23D75F2E422}"/>
              </a:ext>
            </a:extLst>
          </p:cNvPr>
          <p:cNvSpPr txBox="1"/>
          <p:nvPr/>
        </p:nvSpPr>
        <p:spPr>
          <a:xfrm>
            <a:off x="4589586" y="4211438"/>
            <a:ext cx="67642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shape (seg,</a:t>
            </a:r>
            <a:r>
              <a:rPr lang="ko-KR" altLang="en-US" sz="3600" dirty="0"/>
              <a:t> </a:t>
            </a:r>
            <a:r>
              <a:rPr lang="en-US" altLang="ko-KR" sz="3600" dirty="0"/>
              <a:t>channel, D·P in seg) 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09455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61C8C-D6AD-4181-BCCE-0785B3BF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시각화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8B0BC81E-0DB2-40FD-A20D-913C1A9CE1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2023866"/>
            <a:ext cx="10178562" cy="326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66809-7A59-45C0-AA0F-A3BDD251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</a:t>
            </a:r>
            <a:r>
              <a:rPr lang="ko-KR" altLang="en-US" dirty="0"/>
              <a:t> 향후 계획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5FC39-F3F5-4EE2-972D-C4FE47696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r>
              <a:rPr lang="en-US" altLang="ko-KR" dirty="0"/>
              <a:t>ECG</a:t>
            </a:r>
            <a:r>
              <a:rPr lang="ko-KR" altLang="en-US" dirty="0"/>
              <a:t>의 </a:t>
            </a:r>
            <a:r>
              <a:rPr lang="en-US" altLang="ko-KR" dirty="0"/>
              <a:t>R-peak &lt;-&gt; PPG</a:t>
            </a:r>
            <a:r>
              <a:rPr lang="ko-KR" altLang="en-US" dirty="0"/>
              <a:t>의 </a:t>
            </a:r>
            <a:r>
              <a:rPr lang="en-US" altLang="ko-KR" dirty="0"/>
              <a:t>peak/foot </a:t>
            </a:r>
            <a:r>
              <a:rPr lang="ko-KR" altLang="en-US" dirty="0"/>
              <a:t>간의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시간차를 통해 </a:t>
            </a:r>
            <a:r>
              <a:rPr lang="en-US" altLang="ko-KR" dirty="0"/>
              <a:t>PAT </a:t>
            </a:r>
            <a:r>
              <a:rPr lang="ko-KR" altLang="en-US" dirty="0"/>
              <a:t>산출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산출된 </a:t>
            </a:r>
            <a:r>
              <a:rPr lang="en-US" altLang="ko-KR" dirty="0"/>
              <a:t>PAT</a:t>
            </a:r>
            <a:r>
              <a:rPr lang="ko-KR" altLang="en-US" dirty="0"/>
              <a:t>값은 </a:t>
            </a:r>
            <a:r>
              <a:rPr lang="en-US" altLang="ko-KR" dirty="0"/>
              <a:t>beat </a:t>
            </a:r>
            <a:r>
              <a:rPr lang="ko-KR" altLang="en-US" dirty="0"/>
              <a:t>단위로 </a:t>
            </a:r>
            <a:r>
              <a:rPr lang="en-US" altLang="ko-KR" dirty="0"/>
              <a:t>PAT sequence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(feature, input data)</a:t>
            </a:r>
          </a:p>
          <a:p>
            <a:endParaRPr lang="en-US" altLang="ko-KR" dirty="0"/>
          </a:p>
          <a:p>
            <a:r>
              <a:rPr lang="en-US" altLang="ko-KR" dirty="0"/>
              <a:t>Transformer </a:t>
            </a:r>
            <a:r>
              <a:rPr lang="ko-KR" altLang="en-US" dirty="0"/>
              <a:t>아키텍처를 이용한 모델 구축 및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추가적인 </a:t>
            </a:r>
            <a:r>
              <a:rPr lang="en-US" altLang="ko-KR" dirty="0"/>
              <a:t>feature </a:t>
            </a:r>
            <a:r>
              <a:rPr lang="ko-KR" altLang="en-US" dirty="0"/>
              <a:t>값 탐색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74335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B34124-7E0F-4F9E-AE97-59D6F03B3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</a:t>
            </a:r>
            <a:r>
              <a:rPr lang="ko-KR" altLang="en-US" dirty="0"/>
              <a:t>참조 논문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5E489F-4C40-42BF-A684-F874A4050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4362" cy="4351338"/>
          </a:xfrm>
        </p:spPr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Complementary </a:t>
            </a:r>
            <a:r>
              <a:rPr lang="en-US" altLang="ko-KR" dirty="0" err="1"/>
              <a:t>Photoplethysmogram</a:t>
            </a:r>
            <a:r>
              <a:rPr lang="en-US" altLang="ko-KR" dirty="0"/>
              <a:t> Synthesis From Electrocardiogram Using Generative Adversarial Network (2021)</a:t>
            </a:r>
          </a:p>
          <a:p>
            <a:endParaRPr lang="en-US" altLang="ko-KR" dirty="0"/>
          </a:p>
          <a:p>
            <a:r>
              <a:rPr lang="en-US" altLang="ko-KR" dirty="0"/>
              <a:t>End-to-End Blood Pressure Prediction via Fully Convolutional Networks (2019)</a:t>
            </a:r>
          </a:p>
          <a:p>
            <a:endParaRPr lang="en-US" altLang="ko-KR" dirty="0"/>
          </a:p>
          <a:p>
            <a:r>
              <a:rPr lang="en-US" altLang="ko-KR" dirty="0"/>
              <a:t>Enhanced Blood Pressure Estimation based on PPG and ECG Signals (2024)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614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</TotalTime>
  <Words>254</Words>
  <Application>Microsoft Office PowerPoint</Application>
  <PresentationFormat>와이드스크린</PresentationFormat>
  <Paragraphs>62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혈압추정</vt:lpstr>
      <vt:lpstr>1. 데이터 확보</vt:lpstr>
      <vt:lpstr>2. PEAK 추출</vt:lpstr>
      <vt:lpstr>3. Peak간 대응 쌍 구성</vt:lpstr>
      <vt:lpstr>4. PPG-ECG 간 correlation 계산</vt:lpstr>
      <vt:lpstr>4. PPG-ECG 간 correlation 계산</vt:lpstr>
      <vt:lpstr>5. 데이터 통합</vt:lpstr>
      <vt:lpstr>6. 시각화</vt:lpstr>
      <vt:lpstr>7. 향후 계획</vt:lpstr>
      <vt:lpstr>8. 참조 논문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혈압추정</dc:title>
  <dc:creator>USER</dc:creator>
  <cp:lastModifiedBy>USER</cp:lastModifiedBy>
  <cp:revision>18</cp:revision>
  <dcterms:created xsi:type="dcterms:W3CDTF">2025-07-15T12:31:45Z</dcterms:created>
  <dcterms:modified xsi:type="dcterms:W3CDTF">2025-07-17T03:23:25Z</dcterms:modified>
</cp:coreProperties>
</file>